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Building a Multi-Service SaaS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6B6D4"/>
                </a:solidFill>
                <a:latin typeface="Calibri Light"/>
              </a:defRPr>
            </a:pPr>
            <a:r>
              <a:t>With an Agentic AI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How I used Claude Code to architect, plan, and ship Turumba 2.0</a:t>
            </a:r>
            <a:br/>
            <a:r>
              <a:t>with a small team in record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Lightning Talk  |  10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What we set out to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201168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9CF7"/>
                </a:solidFill>
                <a:latin typeface="Calibri"/>
              </a:defRPr>
            </a:pPr>
            <a:r>
              <a:t>Account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286000" cy="1905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FastAPI  |  Python 3.11</a:t>
            </a:r>
            <a:br/>
            <a:r>
              <a:t>Users, Accounts, Roles,</a:t>
            </a:r>
            <a:br/>
            <a:r>
              <a:t>Contacts, Auth (Cognito)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45920"/>
            <a:ext cx="2651760" cy="201168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Calibri"/>
              </a:defRPr>
            </a:pPr>
            <a:r>
              <a:t>Messaging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194560"/>
            <a:ext cx="228600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331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FastAPI  |  Python 3.12</a:t>
            </a:r>
            <a:br/>
            <a:r>
              <a:t>Channels, Messages, Templates,</a:t>
            </a:r>
            <a:br/>
            <a:r>
              <a:t>Groups, Schedules, Outbox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651760" cy="201168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API Gateway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94560"/>
            <a:ext cx="22860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KrakenD 2.12.1</a:t>
            </a:r>
            <a:br/>
            <a:r>
              <a:t>Go plugin, 51 endpoints,</a:t>
            </a:r>
            <a:br/>
            <a:r>
              <a:t>Context enrichment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45920"/>
            <a:ext cx="2651760" cy="201168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Web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2194560"/>
            <a:ext cx="2286000" cy="1905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331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Next.js 16  |  TypeScript</a:t>
            </a:r>
            <a:br/>
            <a:r>
              <a:t>Turborepo monorepo,</a:t>
            </a:r>
            <a:br/>
            <a:r>
              <a:t>React 19, Tailwind v4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11247120" cy="23774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0624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Multi-tenant, multi-channel platform</a:t>
            </a:r>
          </a:p>
          <a:p>
            <a:pPr>
              <a:spcAft>
                <a:spcPts val="96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SMS, Telegram, WhatsApp, Email, SMPP, Messenger</a:t>
            </a:r>
          </a:p>
          <a:p>
            <a:pPr>
              <a:spcAft>
                <a:spcPts val="96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Team of 3-4 developers, tight timeline</a:t>
            </a:r>
          </a:p>
          <a:p>
            <a:pPr>
              <a:spcAft>
                <a:spcPts val="96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4 separate repos  —  4 services  —  2 databases  —  1 message broker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891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Calibri Light"/>
              </a:defRPr>
            </a:pPr>
            <a:r>
              <a:t>"Normally requires weeks of upfront design</a:t>
            </a:r>
            <a:br/>
            <a:r>
              <a:t>and hundreds of tickets"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What Makes This "Agentic" and Not Just "Using AI"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The distinction that changes everything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57200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Calibri"/>
              </a:defRPr>
            </a:pPr>
            <a:r>
              <a:t>Using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475488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Ask ChatGPT "how do I build a messaging API?"</a:t>
            </a:r>
          </a:p>
          <a:p>
            <a:pPr>
              <a:spcAft>
                <a:spcPts val="75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Get a generic tutorial response</a:t>
            </a:r>
          </a:p>
          <a:p>
            <a:pPr>
              <a:spcAft>
                <a:spcPts val="75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Copy-paste code snippets</a:t>
            </a:r>
          </a:p>
          <a:p>
            <a:pPr>
              <a:spcAft>
                <a:spcPts val="75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No awareness of your codebase</a:t>
            </a:r>
          </a:p>
          <a:p>
            <a:pPr>
              <a:spcAft>
                <a:spcPts val="75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No awareness of your patterns</a:t>
            </a:r>
          </a:p>
          <a:p>
            <a:pPr>
              <a:spcAft>
                <a:spcPts val="75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Output is conversation, not artifacts</a:t>
            </a:r>
          </a:p>
          <a:p>
            <a:pPr>
              <a:spcAft>
                <a:spcPts val="75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Every session starts from scratch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34747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99999"/>
                </a:solidFill>
                <a:latin typeface="Calibri Light"/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303520" cy="457200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  <a:latin typeface="Calibri"/>
              </a:defRPr>
            </a:pPr>
            <a:r>
              <a:t>Agentic AI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286000"/>
            <a:ext cx="475488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0"/>
              </a:spcAft>
              <a:defRPr sz="1400" b="1">
                <a:solidFill>
                  <a:srgbClr val="06B6D4"/>
                </a:solidFill>
                <a:latin typeface="Calibri"/>
              </a:defRPr>
            </a:pPr>
            <a:r>
              <a:t>Context Persistence</a:t>
            </a:r>
          </a:p>
          <a:p>
            <a:pPr>
              <a:spcAft>
                <a:spcPts val="49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Reads CLAUDE.md  —  knows your full architecture</a:t>
            </a:r>
          </a:p>
          <a:p>
            <a:pPr>
              <a:spcAft>
                <a:spcPts val="490"/>
              </a:spcAft>
              <a:defRPr sz="1400" b="1">
                <a:solidFill>
                  <a:srgbClr val="06B6D4"/>
                </a:solidFill>
                <a:latin typeface="Calibri"/>
              </a:defRPr>
            </a:pPr>
            <a:r>
              <a:t>Multi-File Awareness</a:t>
            </a:r>
          </a:p>
          <a:p>
            <a:pPr>
              <a:spcAft>
                <a:spcPts val="49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References existing models, patterns, and conventions</a:t>
            </a:r>
          </a:p>
          <a:p>
            <a:pPr>
              <a:spcAft>
                <a:spcPts val="490"/>
              </a:spcAft>
              <a:defRPr sz="1400" b="1">
                <a:solidFill>
                  <a:srgbClr val="06B6D4"/>
                </a:solidFill>
                <a:latin typeface="Calibri"/>
              </a:defRPr>
            </a:pPr>
            <a:r>
              <a:t>Artifact Production</a:t>
            </a:r>
          </a:p>
          <a:p>
            <a:pPr>
              <a:spcAft>
                <a:spcPts val="49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Outputs files: specs, docs, status reports</a:t>
            </a:r>
          </a:p>
          <a:p>
            <a:pPr>
              <a:spcAft>
                <a:spcPts val="490"/>
              </a:spcAft>
              <a:defRPr sz="1400" b="1">
                <a:solidFill>
                  <a:srgbClr val="06B6D4"/>
                </a:solidFill>
                <a:latin typeface="Calibri"/>
              </a:defRPr>
            </a:pPr>
            <a:r>
              <a:t>Iterative Refinement</a:t>
            </a:r>
          </a:p>
          <a:p>
            <a:pPr>
              <a:spcAft>
                <a:spcPts val="49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Collaborator, not oracle  —  adapts to corrections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The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CLAUDE.md + architecture docs = the agent's knowledge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86400" cy="27432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9CF7"/>
                </a:solidFill>
                <a:latin typeface="Calibri"/>
              </a:defRPr>
            </a:pPr>
            <a:r>
              <a:t>CLAUDE.md  —  System Prompt for the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5029200" cy="1905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300+ lines of precise architectural context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Full gateway routing, context enrichment, backend patterns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CRUDController multi-tenancy behaviors (non-obvious!)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Common commands for every service (run, test, lint, migrate)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Code quality standards and CI/CD configuration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Database models and naming conventions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27432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Architecture-First Documentation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148840"/>
            <a:ext cx="502920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4028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•  WHAT_IS_TURUMBA.md  —  Full product specification</a:t>
            </a:r>
          </a:p>
          <a:p>
            <a:pPr>
              <a:spcAft>
                <a:spcPts val="479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•  TURUMBA_MESSAGING.md  —  Messages, templates, events</a:t>
            </a:r>
          </a:p>
          <a:p>
            <a:pPr>
              <a:spcAft>
                <a:spcPts val="479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•  TURUMBA_DELIVERY_CHANNELS.md  —  Channels, credentials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Docs serve dual purpose: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  Product spec for humans + context for the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11247120" cy="16459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The Central Codebase Pattern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1069848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4"/>
              </a:spcAft>
              <a:defRPr sz="1100" b="1">
                <a:solidFill>
                  <a:srgbClr val="FFFFFF"/>
                </a:solidFill>
                <a:latin typeface="Consolas"/>
              </a:defRPr>
            </a:pPr>
            <a:r>
              <a:t>codebase/</a:t>
            </a:r>
          </a:p>
          <a:p>
            <a:pPr>
              <a:spcAft>
                <a:spcPts val="164"/>
              </a:spcAft>
              <a:defRPr sz="1100" b="0">
                <a:solidFill>
                  <a:srgbClr val="389CF7"/>
                </a:solidFill>
                <a:latin typeface="Consolas"/>
              </a:defRPr>
            </a:pPr>
            <a:r>
              <a:t>  ├─ CLAUDE.md                     ←  Agent reads this automatically</a:t>
            </a:r>
          </a:p>
          <a:p>
            <a:pPr>
              <a:spcAft>
                <a:spcPts val="164"/>
              </a:spcAft>
              <a:defRPr sz="1100" b="0">
                <a:solidFill>
                  <a:srgbClr val="06B6D4"/>
                </a:solidFill>
                <a:latin typeface="Consolas"/>
              </a:defRPr>
            </a:pPr>
            <a:r>
              <a:t>  ├─ docs/                           ←  Architecture specs, task specs</a:t>
            </a:r>
          </a:p>
          <a:p>
            <a:pPr>
              <a:spcAft>
                <a:spcPts val="164"/>
              </a:spcAft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├─ turumba_account_api/     ←  Service repo #1</a:t>
            </a:r>
          </a:p>
          <a:p>
            <a:pPr>
              <a:spcAft>
                <a:spcPts val="164"/>
              </a:spcAft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├─ turumba_messaging_api/  ←  Service repo #2</a:t>
            </a:r>
          </a:p>
          <a:p>
            <a:pPr>
              <a:spcAft>
                <a:spcPts val="164"/>
              </a:spcAft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├─ turumba_gateway/            ←  Service repo #3</a:t>
            </a:r>
          </a:p>
          <a:p>
            <a:pPr>
              <a:spcAft>
                <a:spcPts val="164"/>
              </a:spcAft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└─ turumba_web_core/          ←  Service repo #4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49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9E0B"/>
                </a:solidFill>
                <a:latin typeface="Calibri Light"/>
              </a:defRPr>
            </a:pPr>
            <a:r>
              <a:t>"The agent does not hallucinate</a:t>
            </a:r>
            <a:br/>
            <a:r>
              <a:t>features because the features are</a:t>
            </a:r>
            <a:br/>
            <a:r>
              <a:t>precisely defined in documents</a:t>
            </a:r>
            <a:br/>
            <a:r>
              <a:t>it can read."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AI-Generated Task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16 task specs (6 BE + 10 FE) — each precise enough for zero clarifying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029200" cy="457200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7"/>
                </a:solidFill>
                <a:latin typeface="Calibri"/>
              </a:defRPr>
            </a:pPr>
            <a:r>
              <a:t>Task Spec Format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4480560" cy="1905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 b="1">
                <a:solidFill>
                  <a:srgbClr val="FFFFFF"/>
                </a:solidFill>
                <a:latin typeface="Consolas"/>
              </a:defRPr>
            </a:pPr>
            <a:r>
              <a:t>Task ID  |  Title  |  Service  |  Assignee</a:t>
            </a:r>
          </a:p>
          <a:p>
            <a:pPr>
              <a:spcAft>
                <a:spcPts val="519"/>
              </a:spcAft>
              <a:defRPr sz="1300" b="0">
                <a:solidFill>
                  <a:srgbClr val="999999"/>
                </a:solidFill>
                <a:latin typeface="Consolas"/>
              </a:defRPr>
            </a:pPr>
            <a:r>
              <a:t>────────────────────────────────────</a:t>
            </a:r>
          </a:p>
          <a:p>
            <a:pPr>
              <a:spcAft>
                <a:spcPts val="519"/>
              </a:spcAft>
              <a:defRPr sz="1300" b="0">
                <a:solidFill>
                  <a:srgbClr val="06B6D4"/>
                </a:solidFill>
                <a:latin typeface="Consolas"/>
              </a:defRPr>
            </a:pPr>
            <a:r>
              <a:t>Summary  (what and why)</a:t>
            </a:r>
          </a:p>
          <a:p>
            <a:pPr>
              <a:spcAft>
                <a:spcPts val="519"/>
              </a:spcAft>
              <a:defRPr sz="1300" b="0">
                <a:solidFill>
                  <a:srgbClr val="06B6D4"/>
                </a:solidFill>
                <a:latin typeface="Consolas"/>
              </a:defRPr>
            </a:pPr>
            <a:r>
              <a:t>Database model  (columns, types, constraints)</a:t>
            </a:r>
          </a:p>
          <a:p>
            <a:pPr>
              <a:spcAft>
                <a:spcPts val="519"/>
              </a:spcAft>
              <a:defRPr sz="1300" b="0">
                <a:solidFill>
                  <a:srgbClr val="06B6D4"/>
                </a:solidFill>
                <a:latin typeface="Consolas"/>
              </a:defRPr>
            </a:pPr>
            <a:r>
              <a:t>Schema definitions  (create, update, response)</a:t>
            </a:r>
          </a:p>
          <a:p>
            <a:pPr>
              <a:spcAft>
                <a:spcPts val="519"/>
              </a:spcAft>
              <a:defRPr sz="1300" b="0">
                <a:solidFill>
                  <a:srgbClr val="06B6D4"/>
                </a:solidFill>
                <a:latin typeface="Consolas"/>
              </a:defRPr>
            </a:pPr>
            <a:r>
              <a:t>Controller config  (filters, sorts, schema map)</a:t>
            </a:r>
          </a:p>
          <a:p>
            <a:pPr>
              <a:spcAft>
                <a:spcPts val="519"/>
              </a:spcAft>
              <a:defRPr sz="1300" b="0">
                <a:solidFill>
                  <a:srgbClr val="06B6D4"/>
                </a:solidFill>
                <a:latin typeface="Consolas"/>
              </a:defRPr>
            </a:pPr>
            <a:r>
              <a:t>Router endpoints  (methods, paths, req/resp)</a:t>
            </a:r>
          </a:p>
          <a:p>
            <a:pPr>
              <a:spcAft>
                <a:spcPts val="519"/>
              </a:spcAft>
              <a:defRPr sz="1300" b="0">
                <a:solidFill>
                  <a:srgbClr val="06B6D4"/>
                </a:solidFill>
                <a:latin typeface="Consolas"/>
              </a:defRPr>
            </a:pPr>
            <a:r>
              <a:t>Step-by-step implementation checklist</a:t>
            </a:r>
          </a:p>
          <a:p>
            <a:pPr>
              <a:spcAft>
                <a:spcPts val="519"/>
              </a:spcAft>
              <a:defRPr sz="1300" b="0">
                <a:solidFill>
                  <a:srgbClr val="06B6D4"/>
                </a:solidFill>
                <a:latin typeface="Consolas"/>
              </a:defRPr>
            </a:pPr>
            <a:r>
              <a:t>Testing requirements</a:t>
            </a:r>
          </a:p>
          <a:p>
            <a:pPr>
              <a:spcAft>
                <a:spcPts val="519"/>
              </a:spcAft>
              <a:defRPr sz="1300" b="0">
                <a:solidFill>
                  <a:srgbClr val="06B6D4"/>
                </a:solidFill>
                <a:latin typeface="Consolas"/>
              </a:defRPr>
            </a:pPr>
            <a:r>
              <a:t>Definition of 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645920"/>
            <a:ext cx="5943600" cy="201168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783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Why This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2148840"/>
            <a:ext cx="548640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24028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 Exact SQLAlchemy model with every column, type, and index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 Pydantic schemas for creation, update, and response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 Filter/sort configuration with whitelisted operations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 A developer can implement without asking a single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931920"/>
            <a:ext cx="5943600" cy="228600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Calibri Light"/>
              </a:defRPr>
            </a:pPr>
            <a:r>
              <a:t>"The spec IS the clarification"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7548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16 task specifications</a:t>
            </a:r>
          </a:p>
          <a:p>
            <a:pPr>
              <a:spcAft>
                <a:spcPts val="259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6 backend  +  10 frontend</a:t>
            </a:r>
          </a:p>
          <a:p>
            <a:pPr>
              <a:spcAft>
                <a:spcPts val="259"/>
              </a:spcAft>
              <a:defRPr sz="13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59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Produced in a fraction of the time</a:t>
            </a:r>
          </a:p>
          <a:p>
            <a:pPr>
              <a:spcAft>
                <a:spcPts val="259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with far more consistency and detail</a:t>
            </a:r>
          </a:p>
          <a:p>
            <a:pPr>
              <a:spcAft>
                <a:spcPts val="259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than manual ticket writing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From Spec to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5 complete CRUD entities in 4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71800"/>
            <a:ext cx="1069848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834640"/>
            <a:ext cx="320040" cy="320040"/>
          </a:xfrm>
          <a:prstGeom prst="ellipse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9CF7"/>
                </a:solidFill>
                <a:latin typeface="Calibri"/>
              </a:defRPr>
            </a:pPr>
            <a:r>
              <a:t>Feb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383280"/>
            <a:ext cx="201168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Messaging API core</a:t>
            </a:r>
            <a:br/>
            <a:r>
              <a:t>architecture + dual</a:t>
            </a:r>
            <a:br/>
            <a:r>
              <a:t>database setup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2834640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Feb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383280"/>
            <a:ext cx="201168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35204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Alembic + pre-commit</a:t>
            </a:r>
            <a:br/>
            <a:r>
              <a:t>+ pytest infrastructure</a:t>
            </a:r>
            <a:br/>
            <a:r>
              <a:t>complete</a:t>
            </a:r>
          </a:p>
        </p:txBody>
      </p:sp>
      <p:sp>
        <p:nvSpPr>
          <p:cNvPr id="14" name="Oval 13"/>
          <p:cNvSpPr/>
          <p:nvPr/>
        </p:nvSpPr>
        <p:spPr>
          <a:xfrm>
            <a:off x="5989320" y="283464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Calibri"/>
              </a:defRPr>
            </a:pPr>
            <a:r>
              <a:t>Feb 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3383280"/>
            <a:ext cx="201168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35204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BE-001 (Messages) +</a:t>
            </a:r>
            <a:br/>
            <a:r>
              <a:t>BE-002 (Channels)</a:t>
            </a:r>
            <a:br/>
            <a:r>
              <a:t>CRUD complete &amp; closed</a:t>
            </a:r>
          </a:p>
        </p:txBody>
      </p:sp>
      <p:sp>
        <p:nvSpPr>
          <p:cNvPr id="18" name="Oval 17"/>
          <p:cNvSpPr/>
          <p:nvPr/>
        </p:nvSpPr>
        <p:spPr>
          <a:xfrm>
            <a:off x="8321039" y="283464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Feb 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19" y="3383280"/>
            <a:ext cx="201168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59" y="35204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BE-003, BE-004, BE-005</a:t>
            </a:r>
            <a:br/>
            <a:r>
              <a:t>(Templates, Groups,</a:t>
            </a:r>
            <a:br/>
            <a:r>
              <a:t>Schedules) all closed</a:t>
            </a:r>
          </a:p>
        </p:txBody>
      </p:sp>
      <p:sp>
        <p:nvSpPr>
          <p:cNvPr id="22" name="Oval 21"/>
          <p:cNvSpPr/>
          <p:nvPr/>
        </p:nvSpPr>
        <p:spPr>
          <a:xfrm>
            <a:off x="10652760" y="2834640"/>
            <a:ext cx="320040" cy="3200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Feb 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3383280"/>
            <a:ext cx="201168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35204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Full project audit</a:t>
            </a:r>
            <a:br/>
            <a:r>
              <a:t>51 gateway endpoints</a:t>
            </a:r>
            <a:br/>
            <a:r>
              <a:t>configured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212080"/>
            <a:ext cx="6858000" cy="11887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5 CRUD entities  →  4 days  →  80% test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06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Model + Schema + Controller + Service + Router + Tests for each entity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5212080"/>
            <a:ext cx="4114800" cy="11887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53492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 Light"/>
              </a:defRPr>
            </a:pPr>
            <a:r>
              <a:t>"Implementation became an</a:t>
            </a:r>
            <a:br/>
            <a:r>
              <a:t>execution task, not a design task"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Automated Code Review (Claude Code Action)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Every PR reviewed against the project's architecture  —  automatically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18288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7"/>
                </a:solidFill>
                <a:latin typeface="Calibri"/>
              </a:defRPr>
            </a:pPr>
            <a:r>
              <a:t>claude-code-review.yml  —  Auto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4846320" cy="1905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Fires on every PR open / update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Claude reads diff + full codebase context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Posts inline comments + structured summary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No human trigger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18288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claude.yml  —  Interactive @claude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148840"/>
            <a:ext cx="484632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402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Comment "@claude please review" on any PR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Targeted review responding to specific request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Follow-up questions, re-reviews after fixes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Verify whether a concern has been addressed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11247120" cy="283464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The Review Prompt: 120+ Lines of Architecture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97680"/>
            <a:ext cx="10698480" cy="1905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CRUDController Base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All controllers MUST extend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64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64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Multi-Tenant Scoping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864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Every query scoped to x-account-ids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486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2486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Filter/Sort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248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Whitelist of allowed filters per 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327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6327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Schema Conventions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6327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PATCH: exclude_unset=True, not exclude_none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0167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6016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Async DB 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016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Never block the event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480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PostgreSQL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480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sa.Uuid(as_uuid=True), not sa.UUID()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864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864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Alembic Migrations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8646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Column types must match models exactly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24865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8.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2486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Testing Standards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2486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80% coverage, shared conftest fixtures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6327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9.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56327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Domain-Specific Rules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6327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Status lifecycles, credential handling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6016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10.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6016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Code Quality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0167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Ruff, proper error chaining, no hardcoded config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Calibri Light"/>
              </a:defRPr>
            </a:pPr>
            <a:r>
              <a:t>"The prompt IS the reviewer's expertise"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Real Security Catches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Actual vulnerabilities caught by automated review in production PRs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40680" cy="21031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100584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83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SQL Injection in pg_notify.py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 #24  —  Messaging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50292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f-string SQL construction allows</a:t>
            </a:r>
            <a:br/>
            <a:r>
              <a:t>arbitrary SQL execution.</a:t>
            </a:r>
            <a:br/>
            <a:r>
              <a:t>Caught in the event infrastructure PR.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440680" cy="21031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83080"/>
            <a:ext cx="10058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1783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Auth Bug: Cognito Access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 #52  —  Account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423160"/>
            <a:ext cx="50292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AWS Cognito access tokens lack "aud" claim</a:t>
            </a:r>
            <a:br/>
            <a:r>
              <a:t>— they use "client_id" instead.</a:t>
            </a:r>
            <a:br/>
            <a:r>
              <a:t>Would have broken auth for all users.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77640"/>
            <a:ext cx="5440680" cy="21031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4114800"/>
            <a:ext cx="1005840" cy="2743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114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114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Multi-Tenant Bypass via Filters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 #17  —  Messaging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54880"/>
            <a:ext cx="50292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User-provided account_id filter could</a:t>
            </a:r>
            <a:br/>
            <a:r>
              <a:t>replace system scope filter via</a:t>
            </a:r>
            <a:br/>
            <a:r>
              <a:t>_merge_filters. Cross-tenant data leak.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977640"/>
            <a:ext cx="5440680" cy="21031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55080" y="4114800"/>
            <a:ext cx="1005840" cy="274320"/>
          </a:xfrm>
          <a:prstGeom prst="round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114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114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9CF7"/>
                </a:solidFill>
                <a:latin typeface="Calibri"/>
              </a:defRPr>
            </a:pPr>
            <a:r>
              <a:t>Delete Skips Account Filtering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80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 #51  —  Account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754880"/>
            <a:ext cx="50292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8920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Deletion by ID did not enforce</a:t>
            </a:r>
            <a:br/>
            <a:r>
              <a:t>account_id scoping. Any tenant could</a:t>
            </a:r>
            <a:br/>
            <a:r>
              <a:t>delete another tenant's records.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309360"/>
            <a:ext cx="11247120" cy="411480"/>
          </a:xfrm>
          <a:prstGeom prst="roundRect">
            <a:avLst/>
          </a:prstGeom>
          <a:solidFill>
            <a:srgbClr val="1A253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3550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Calibri"/>
              </a:defRPr>
            </a:pPr>
            <a:r>
              <a:t>These are not theoretical — every catch above was in a real PR heading toward production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The Multi-Round Review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7 rounds on one PR  —  each round goes deeper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645920"/>
            <a:ext cx="1463040" cy="16459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9CF7"/>
                </a:solidFill>
                <a:latin typeface="Calibri"/>
              </a:defRPr>
            </a:pPr>
            <a:r>
              <a:t>PR Opened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Automated review</a:t>
            </a:r>
            <a:br/>
            <a:r>
              <a:t>fires immediately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20" y="1645920"/>
            <a:ext cx="1463040" cy="16459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77440" y="173736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755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Dev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Developer addresses</a:t>
            </a:r>
            <a:br/>
            <a:r>
              <a:t>first-wave issues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40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1645920"/>
            <a:ext cx="1463040" cy="16459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69080" y="17373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1755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@claude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Tech lead triggers</a:t>
            </a:r>
            <a:br/>
            <a:r>
              <a:t>targeted re-review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240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1645920"/>
            <a:ext cx="1463040" cy="16459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0720" y="173736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1755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Verify Fixes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Claude confirms</a:t>
            </a:r>
            <a:br/>
            <a:r>
              <a:t>fixes are correct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240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1645920"/>
            <a:ext cx="1463040" cy="16459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52360" y="173736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1755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Deeper Issues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Finds new issues</a:t>
            </a:r>
            <a:br/>
            <a:r>
              <a:t>missed in round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240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1645920"/>
            <a:ext cx="1463040" cy="16459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0" y="173736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1755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Dev Fixes Again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Developer addresses</a:t>
            </a:r>
            <a:br/>
            <a:r>
              <a:t>newly found issues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2240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32720" y="1645920"/>
            <a:ext cx="1463040" cy="16459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35640" y="173736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5640" y="1755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Final Approve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7844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All critical issues</a:t>
            </a:r>
            <a:br/>
            <a:r>
              <a:t>resolved → Merge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657600"/>
            <a:ext cx="7315200" cy="292608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37947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7"/>
                </a:solidFill>
                <a:latin typeface="Calibri"/>
              </a:defRPr>
            </a:pPr>
            <a:r>
              <a:t>Case Study: Account API PR #51  —  7 Review Rounds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160520"/>
            <a:ext cx="6858000" cy="1905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251960"/>
            <a:ext cx="685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9"/>
              </a:spcAft>
              <a:defRPr sz="1100" b="1">
                <a:solidFill>
                  <a:srgbClr val="389CF7"/>
                </a:solidFill>
                <a:latin typeface="Calibri"/>
              </a:defRPr>
            </a:pPr>
            <a:r>
              <a:t>•  Round 1: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  Cursor Bugbot finds multi-tenant bypass in person-contact retrieval</a:t>
            </a:r>
          </a:p>
          <a:p>
            <a:pPr>
              <a:spcAft>
                <a:spcPts val="439"/>
              </a:spcAft>
              <a:defRPr sz="1100" b="1">
                <a:solidFill>
                  <a:srgbClr val="389CF7"/>
                </a:solidFill>
                <a:latin typeface="Calibri"/>
              </a:defRPr>
            </a:pPr>
            <a:r>
              <a:t>•  Round 2: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  Claude auto-review finds missing type hints</a:t>
            </a:r>
          </a:p>
          <a:p>
            <a:pPr>
              <a:spcAft>
                <a:spcPts val="439"/>
              </a:spcAft>
              <a:defRPr sz="1100" b="1">
                <a:solidFill>
                  <a:srgbClr val="22C55E"/>
                </a:solidFill>
                <a:latin typeface="Calibri"/>
              </a:defRPr>
            </a:pPr>
            <a:r>
              <a:t>•  Round 3: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  Dev fixes both. Tech lead: "@claude please review"</a:t>
            </a:r>
          </a:p>
          <a:p>
            <a:pPr>
              <a:spcAft>
                <a:spcPts val="439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•  Round 4: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  Claude verifies fixes, finds NEW issue: delete operation skips account filtering</a:t>
            </a:r>
          </a:p>
          <a:p>
            <a:pPr>
              <a:spcAft>
                <a:spcPts val="439"/>
              </a:spcAft>
              <a:defRPr sz="1100" b="1">
                <a:solidFill>
                  <a:srgbClr val="A78BFA"/>
                </a:solidFill>
                <a:latin typeface="Calibri"/>
              </a:defRPr>
            </a:pPr>
            <a:r>
              <a:t>•  Round 5-7: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  Fix → re-review → confirm → APPROVED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57600"/>
            <a:ext cx="3657600" cy="292608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The Pattern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4251960"/>
            <a:ext cx="310896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4434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</a:t>
            </a:r>
          </a:p>
          <a:p>
            <a:pPr>
              <a:spcAft>
                <a:spcPts val="11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Let automated review catch the first wave</a:t>
            </a:r>
          </a:p>
          <a:p>
            <a:pPr>
              <a:spcAft>
                <a:spcPts val="11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11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</a:t>
            </a:r>
          </a:p>
          <a:p>
            <a:pPr>
              <a:spcAft>
                <a:spcPts val="11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Developer fixes obvious issues</a:t>
            </a:r>
          </a:p>
          <a:p>
            <a:pPr>
              <a:spcAft>
                <a:spcPts val="11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11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</a:t>
            </a:r>
          </a:p>
          <a:p>
            <a:pPr>
              <a:spcAft>
                <a:spcPts val="11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@claude please review to verify + go deeper</a:t>
            </a:r>
          </a:p>
          <a:p>
            <a:pPr>
              <a:spcAft>
                <a:spcPts val="11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11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</a:t>
            </a:r>
          </a:p>
          <a:p>
            <a:pPr>
              <a:spcAft>
                <a:spcPts val="11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Repeat until clean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The Team Dynamic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How roles work with an agentic AI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743200" cy="320040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2468880" cy="320040"/>
          </a:xfrm>
          <a:prstGeom prst="round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DESIGN &amp;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9CF7"/>
                </a:solidFill>
                <a:latin typeface="Calibri"/>
              </a:defRPr>
            </a:pPr>
            <a:r>
              <a:t>Tech Lead + Claude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2377440" cy="127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Design architecture</a:t>
            </a:r>
            <a:br/>
            <a:r>
              <a:t>Write documentation</a:t>
            </a:r>
            <a:br/>
            <a:r>
              <a:t>Generate task specs</a:t>
            </a:r>
            <a:br/>
            <a:r>
              <a:t>Audit progress</a:t>
            </a:r>
            <a:br/>
            <a:r>
              <a:t>Make merge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645920"/>
            <a:ext cx="2743200" cy="320040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783080"/>
            <a:ext cx="246888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EXECUTE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Calibri"/>
              </a:defRPr>
            </a:pPr>
            <a:r>
              <a:t>Backend Developer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606040"/>
            <a:ext cx="2377440" cy="127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7432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Pick up BE specs (BE-001 to BE-006)</a:t>
            </a:r>
            <a:br/>
            <a:r>
              <a:t>Create branch, implement spec</a:t>
            </a:r>
            <a:br/>
            <a:r>
              <a:t>Open PR, respond to review</a:t>
            </a:r>
            <a:br/>
            <a:r>
              <a:t>Fix issues, request re-review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2743200" cy="320040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1783080"/>
            <a:ext cx="24688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EXECUTE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Frontend Developer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606040"/>
            <a:ext cx="2377440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432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Pick up FE specs (FE-001 to FE-010)</a:t>
            </a:r>
            <a:br/>
            <a:r>
              <a:t>Same precision as BE specs</a:t>
            </a:r>
            <a:br/>
            <a:r>
              <a:t>Implement UI with exact schemas</a:t>
            </a:r>
            <a:br/>
            <a:r>
              <a:t>Connected to gateway APIs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645920"/>
            <a:ext cx="2743200" cy="320040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0" y="1783080"/>
            <a:ext cx="24688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REVIEW &amp;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Claude Code 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606040"/>
            <a:ext cx="237744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27432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Auto-review every PR on open</a:t>
            </a:r>
            <a:br/>
            <a:r>
              <a:t>Check all 10 critical patterns</a:t>
            </a:r>
            <a:br/>
            <a:r>
              <a:t>Post inline comments + summary</a:t>
            </a:r>
            <a:br/>
            <a:r>
              <a:t>Re-review on @claude mention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20640"/>
            <a:ext cx="5669280" cy="146304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035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Calibri Light"/>
              </a:defRPr>
            </a:pPr>
            <a:r>
              <a:t>"Developers never waited for a spec.</a:t>
            </a:r>
            <a:br/>
            <a:r>
              <a:t>The specs were ready before they</a:t>
            </a:r>
            <a:br/>
            <a:r>
              <a:t>finished the previous task."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120640"/>
            <a:ext cx="5669280" cy="146304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3035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9E0B"/>
                </a:solidFill>
                <a:latin typeface="Calibri Light"/>
              </a:defRPr>
            </a:pPr>
            <a:r>
              <a:t>"The most valuable thing a tech lead</a:t>
            </a:r>
            <a:br/>
            <a:r>
              <a:t>produces is not code  —  it is clarity."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Metrics from the Turumba 2.0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651760" cy="11887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89CF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2651760" cy="11887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2C55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Backend Entities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51760" cy="11887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Gateway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45920"/>
            <a:ext cx="2651760" cy="11887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7373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9E0B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Task Specs Generated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108960"/>
            <a:ext cx="2651760" cy="11887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004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78BFA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PRs Reviewed by Claude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108960"/>
            <a:ext cx="2651760" cy="11887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2004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2C55E"/>
                </a:solidFill>
                <a:latin typeface="Calibri"/>
              </a:defRPr>
            </a:pPr>
            <a:r>
              <a:t>4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Zero to Functional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108960"/>
            <a:ext cx="2651760" cy="11887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2004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89CF7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Test Coverage Gate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108960"/>
            <a:ext cx="2651760" cy="118872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32004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9E0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Prompt Iterations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572000"/>
            <a:ext cx="11430000" cy="41148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Critical Bugs Caught:   SQL Injection  |  Auth Bypass  |  Tenant Isolation Gaps  |  Delete Operation Bypass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212080"/>
            <a:ext cx="11430000" cy="13716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CF7"/>
                </a:solidFill>
                <a:latin typeface="Calibri"/>
              </a:defRPr>
            </a:pPr>
            <a:r>
              <a:t>Prompt Evolution: 3 Iterations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715000"/>
            <a:ext cx="3291840" cy="731520"/>
          </a:xfrm>
          <a:prstGeom prst="roundRect">
            <a:avLst/>
          </a:prstGeom>
          <a:solidFill>
            <a:srgbClr val="1A253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V1: Generic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5760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code-review plugin.</a:t>
            </a:r>
            <a:br/>
            <a:r>
              <a:t>Surface-level feedback.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79" y="5852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19" y="5715000"/>
            <a:ext cx="3291840" cy="731520"/>
          </a:xfrm>
          <a:prstGeom prst="roundRect">
            <a:avLst/>
          </a:prstGeom>
          <a:solidFill>
            <a:srgbClr val="1A25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59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V2: Structured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59" y="5760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Custom prompt + auto-review.</a:t>
            </a:r>
            <a:br/>
            <a:r>
              <a:t>Lacked codebase context.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19" y="5852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9" y="5715000"/>
            <a:ext cx="3291840" cy="731520"/>
          </a:xfrm>
          <a:prstGeom prst="roundRect">
            <a:avLst/>
          </a:prstGeom>
          <a:solidFill>
            <a:srgbClr val="1A253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9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V3: Architecture-Aware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199" y="5760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120+ lines of patterns.</a:t>
            </a:r>
            <a:br/>
            <a:r>
              <a:t>Catches real vulnerabilities.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44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984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9CF7"/>
                </a:solidFill>
                <a:latin typeface="Calibri"/>
              </a:defRPr>
            </a:pPr>
            <a:r>
              <a:t>Invest heavily in 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Quality in = quality out. 300+ lines of architecture context pays dividends on every interaction.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671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Documentation is infrastructure, not overhead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14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Architecture docs become the foundation for specs, audits, and status reports. Machine-readable docs compound.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81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35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Specs should be executable, not descriptive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Exact column definitions + step-by-step checklist = 2 days writing code, not 2 days figuring out the design.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31919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5020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0448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Review prompts need architecture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519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Generic prompts produce generic feedback. 120 lines of patterns = real vulnerability catches.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18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773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The agent accelerates production 10x — the thinking is still yours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Every spec, every decision, every review goes through human judgment. The agent is a collaborator, not an oracle.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623560"/>
            <a:ext cx="10972800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 Light"/>
              </a:defRPr>
            </a:pPr>
            <a:r>
              <a:t>Thank You  —  Questions?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Built with Claude Code by Anthropic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