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2540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TURUMBA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 Light"/>
              </a:defRPr>
            </a:pPr>
            <a:r>
              <a:t>Multi-Channel Message Automation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Send the right message, to the right person,</a:t>
            </a:r>
            <a:br/>
            <a:r>
              <a:t>through the right channel, at the right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Platform Overview  |  Architecture  |  Microservices  |  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What is Turumba Today?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A working platform with 50+ API endpoints across 4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Turumba 2.0 is a multi-tenant message automation platform that enables</a:t>
            </a:r>
          </a:p>
          <a:p>
            <a:pPr>
              <a:spcAft>
                <a:spcPts val="850"/>
              </a:spcAft>
              <a:defRPr sz="1700" b="0">
                <a:solidFill>
                  <a:srgbClr val="CCCCCC"/>
                </a:solidFill>
                <a:latin typeface="Calibri"/>
              </a:defRPr>
            </a:pPr>
            <a:r>
              <a:t>organizations to automate communication with their contacts across</a:t>
            </a:r>
          </a:p>
          <a:p>
            <a:pPr>
              <a:spcAft>
                <a:spcPts val="850"/>
              </a:spcAft>
              <a:defRPr sz="1700" b="0">
                <a:solidFill>
                  <a:srgbClr val="CCCCCC"/>
                </a:solidFill>
                <a:latin typeface="Calibri"/>
              </a:defRPr>
            </a:pPr>
            <a:r>
              <a:t>SMS, SMPP, Telegram, WhatsApp, Messenger, and Email.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697480" cy="17373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Accounts &amp; 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82112"/>
            <a:ext cx="2331720" cy="12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Multi-tenant accounts, users,</a:t>
            </a:r>
            <a:br/>
            <a:r>
              <a:t>roles, RBAC, AWS Cognito JWT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743200"/>
            <a:ext cx="2697480" cy="17373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880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Contacts &amp; Groups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3182112"/>
            <a:ext cx="2331720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2918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Flexible metadata, custom</a:t>
            </a:r>
            <a:br/>
            <a:r>
              <a:t>attributes, tags, segmentation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2697480" cy="17373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6 Channel Types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182112"/>
            <a:ext cx="2331720" cy="127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SMS, SMPP, Telegram, WhatsApp,</a:t>
            </a:r>
            <a:br/>
            <a:r>
              <a:t>Messenger, Email — write-only creds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743200"/>
            <a:ext cx="2697480" cy="17373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880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Template Messages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3182112"/>
            <a:ext cx="233172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32918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{FIRST_NAME} variables with</a:t>
            </a:r>
            <a:br/>
            <a:r>
              <a:t>6-source resolution + fallbacks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09160"/>
            <a:ext cx="2697480" cy="17373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Group Messaging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48072"/>
            <a:ext cx="2331720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Bulk send with per-recipient</a:t>
            </a:r>
            <a:br/>
            <a:r>
              <a:t>personalization + progress tracking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4709160"/>
            <a:ext cx="2697480" cy="17373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8463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Scheduled Messages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5148072"/>
            <a:ext cx="2331720" cy="12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525780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One-time &amp; recurring with</a:t>
            </a:r>
            <a:br/>
            <a:r>
              <a:t>timezone awareness, pause/resume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709160"/>
            <a:ext cx="2697480" cy="17373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8463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Event Infrastructure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148072"/>
            <a:ext cx="2331720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25780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EventBus + Transactional Outbox</a:t>
            </a:r>
            <a:br/>
            <a:r>
              <a:t>+ RabbitMQ (zero event loss)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709160"/>
            <a:ext cx="2697480" cy="17373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48463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Frontend Apps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1160" y="5148072"/>
            <a:ext cx="2331720" cy="127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525780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Turumba dashboard + Negarit</a:t>
            </a:r>
            <a:br/>
            <a:r>
              <a:t>Next.js 16, 24 shared UI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How Turumba Evolves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The architecture supports growth without rewrites — each layer builds on what's there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9144000" cy="123444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13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CURRENT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Accounts, Auth, Contacts, Channels, Messages,</a:t>
            </a:r>
            <a:br/>
            <a:r>
              <a:t>Templates, Groups, Schedules, Event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440680"/>
            <a:ext cx="155448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54406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BUILT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9144000" cy="123444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9CF7"/>
                </a:solidFill>
                <a:latin typeface="Calibri"/>
              </a:defRPr>
            </a:pPr>
            <a:r>
              <a:t>HIGH-SCALE 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Channel adapter framework, per-channel dispatch workers,</a:t>
            </a:r>
            <a:br/>
            <a:r>
              <a:t>webhook receivers, Redis rate limiting — 1M+ messages/day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977640"/>
            <a:ext cx="1554480" cy="256032"/>
          </a:xfrm>
          <a:prstGeom prst="round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9776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DESIGNED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77440"/>
            <a:ext cx="9144000" cy="123444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87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CONVERSATIONS &amp;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Omnichannel inbox, bot-first routing, agent assignment,</a:t>
            </a:r>
            <a:br/>
            <a:r>
              <a:t>real-time WebSocket service (turumba_realtime)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514600"/>
            <a:ext cx="1554480" cy="256032"/>
          </a:xfrm>
          <a:prstGeom prst="round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5146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DESIGNED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280160"/>
            <a:ext cx="9144000" cy="123444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AI &amp;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691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Intent classification, smart replies, translation,</a:t>
            </a:r>
            <a:br/>
            <a:r>
              <a:t>sentiment detection, dashboards &amp; reporting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1417320"/>
            <a:ext cx="1554480" cy="256032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14173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1280160"/>
            <a:ext cx="2011680" cy="521208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389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Key Principle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1719072"/>
            <a:ext cx="164592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1810512"/>
            <a:ext cx="1645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Each layer builds on the one below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No rewrites needed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Same DB models, same event pipeline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New workers plug into existing RabbitMQ topology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New models follow the same CRUD pattern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1005840"/>
          </a:xfrm>
          <a:prstGeom prst="rect">
            <a:avLst/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89CF7"/>
                </a:solidFill>
                <a:latin typeface="Calibri Light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Microservices, API gateway, and event-driven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4 services, single gateway entry point, Docker networking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6858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15361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Turumba Web Apps  (Next.js 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148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468880"/>
            <a:ext cx="6675120" cy="914400"/>
          </a:xfrm>
          <a:prstGeom prst="roundRect">
            <a:avLst/>
          </a:prstGeom>
          <a:solidFill>
            <a:srgbClr val="141F38"/>
          </a:solidFill>
          <a:ln w="317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5146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9CF7"/>
                </a:solidFill>
                <a:latin typeface="Calibri"/>
              </a:defRPr>
            </a:pPr>
            <a:r>
              <a:t>KrakenD API Gateway  (Port 8080)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803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Context Enrichment  |  Auth Validation  |  Rate Limiting  |  Header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383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383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657600"/>
            <a:ext cx="4754880" cy="13716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Account API  (FastAPI / Python 3.11)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Users  |  Accounts  |  Roles  |  Contacts  |  Persons  |  Auth (Cognito)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PostgreSQL  +  MongoDB  +  AWS Cognito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 Routers  |  18 Service Classes  |  /context/basic endpoint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4754880" cy="1371600"/>
          </a:xfrm>
          <a:prstGeom prst="roundRect">
            <a:avLst/>
          </a:prstGeom>
          <a:solidFill>
            <a:srgbClr val="141F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Messaging API  (FastAPI / Python 3.12)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Channels  |  Messages  |  Templates  |  Group Messages  |  Scheduled Messages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43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PostgreSQL  +  RabbitMQ  (Transactional Outbox)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 Routers  |  15+ Service Classes  |  Outbox Worker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029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029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029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029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5349240"/>
            <a:ext cx="1828800" cy="5486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9CF7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5349240"/>
            <a:ext cx="1828800" cy="5486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MongoDB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5349240"/>
            <a:ext cx="1828800" cy="5486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9CF7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5349240"/>
            <a:ext cx="1828800" cy="5486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RabbitMQ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6126480"/>
            <a:ext cx="9966960" cy="411480"/>
          </a:xfrm>
          <a:prstGeom prst="roundRect">
            <a:avLst/>
          </a:prstGeom>
          <a:solidFill>
            <a:srgbClr val="1A253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6172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Docker Network: gateway-network  |  All services internal  |  Only gateway exposed on port 8080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How It All Works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End-to-end flow from user sign-up to message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User signs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Web app calls</a:t>
            </a:r>
            <a:br/>
            <a:r>
              <a:t>/v1/auth/register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69164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19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Account created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57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Account API creates</a:t>
            </a:r>
            <a:br/>
            <a:r>
              <a:t>user in Cognito +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56616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5320" y="169164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719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User logs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057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Receives JWT tokens</a:t>
            </a:r>
            <a:br/>
            <a:r>
              <a:t>(access, id, refresh)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46120"/>
            <a:ext cx="356616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107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10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Context enrichment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749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Gateway calls /context/basic</a:t>
            </a:r>
            <a:br/>
            <a:r>
              <a:t>injects x-account-ids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749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246120"/>
            <a:ext cx="356616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34840" y="338328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4107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410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Manage contacts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749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Create contacts, groups</a:t>
            </a:r>
            <a:br/>
            <a:r>
              <a:t>with flexible metadata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749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246120"/>
            <a:ext cx="356616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75320" y="3383280"/>
            <a:ext cx="457200" cy="457200"/>
          </a:xfrm>
          <a:prstGeom prst="ellipse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34107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410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Send message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749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Select channel + template</a:t>
            </a:r>
            <a:br/>
            <a:r>
              <a:t>API renders variables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37760"/>
            <a:ext cx="356616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4360" y="50749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102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5102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Events emitted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EventBus + OutboxMiddleware</a:t>
            </a:r>
            <a:br/>
            <a:r>
              <a:t>atomic DB transaction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5440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937760"/>
            <a:ext cx="356616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34840" y="50749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4840" y="5102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102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Background processing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Outbox Worker publishes</a:t>
            </a:r>
            <a:br/>
            <a:r>
              <a:t>to RabbitMQ consumers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5440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4937760"/>
            <a:ext cx="3566160" cy="14630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275320" y="507492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5102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102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Status tracked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All activity recorded</a:t>
            </a:r>
            <a:br/>
            <a:r>
              <a:t>with delivery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1005840"/>
          </a:xfrm>
          <a:prstGeom prst="rect">
            <a:avLst/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89CF7"/>
                </a:solidFill>
                <a:latin typeface="Calibri Light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The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Each service's role and responsibilities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turumba_gateway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KrakenD 2.12.1 — Single entry point for the entire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7"/>
                </a:solidFill>
                <a:latin typeface="Calibri"/>
              </a:defRPr>
            </a:pPr>
            <a:r>
              <a:t>Context Enrichment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2103120" cy="19202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057400"/>
            <a:ext cx="502920" cy="502920"/>
          </a:xfrm>
          <a:prstGeom prst="ellipse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84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9CF7"/>
                </a:solidFill>
                <a:latin typeface="Calibri"/>
              </a:defRPr>
            </a:pPr>
            <a:r>
              <a:t>User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Hits /v1/accounts</a:t>
            </a:r>
            <a:br/>
            <a:r>
              <a:t>with JWT Bearer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060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920240"/>
            <a:ext cx="2103120" cy="19202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205740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084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Calibri"/>
              </a:defRPr>
            </a:pPr>
            <a:r>
              <a:t>Context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971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Gateway calls</a:t>
            </a:r>
            <a:br/>
            <a:r>
              <a:t>/v1/context/basic</a:t>
            </a:r>
            <a:br/>
            <a:r>
              <a:t>on Account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6060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920240"/>
            <a:ext cx="2103120" cy="19202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06440" y="205740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084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Header 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971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Extracts account_ids</a:t>
            </a:r>
            <a:br/>
            <a:r>
              <a:t>+ role_ids, injects</a:t>
            </a:r>
            <a:br/>
            <a:r>
              <a:t>as trusted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060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19" y="1920240"/>
            <a:ext cx="2103120" cy="19202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59" y="205740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2084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Anti-Spoofing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971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STRIPS any user-</a:t>
            </a:r>
            <a:br/>
            <a:r>
              <a:t>provided x-account-ids</a:t>
            </a:r>
            <a:br/>
            <a:r>
              <a:t>or x-role-ids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26060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920240"/>
            <a:ext cx="2103120" cy="19202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69880" y="20574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9880" y="2084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Forward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971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Enriched request</a:t>
            </a:r>
            <a:br/>
            <a:r>
              <a:t>forwarded to target</a:t>
            </a:r>
            <a:br/>
            <a:r>
              <a:t>backend 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14800"/>
            <a:ext cx="3657600" cy="246888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224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553712"/>
            <a:ext cx="3291840" cy="1905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64515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Template-based: krakend.tmpl + partials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Go plugin: context-enricher.so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Lua scripts for request/response mods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File composition via FC_ENABLE=1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114800"/>
            <a:ext cx="3657600" cy="246888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4224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51 Endpoints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4553712"/>
            <a:ext cx="329184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464515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25 Account API routes (auth, users, accounts, roles, contacts)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25 Messaging API routes (channels, messages, templates, groups, schedules)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1 Context route (/v1/context/basic)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4114800"/>
            <a:ext cx="3657600" cy="246888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4224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Pattern Matching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4553712"/>
            <a:ext cx="329184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464515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"POST /v1/accounts" — exact match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"* /v1/accounts/*" — single wildcard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"GET /v1/**" — double wildcard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Bypass list for public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turumba_account_api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FastAPI / Python 3.11 — Identity, access, and contact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Current Entities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20440" cy="1143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Registration, auth via</a:t>
            </a:r>
            <a:br/>
            <a:r>
              <a:t>AWS Cognito, JWT RS256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828800"/>
            <a:ext cx="3520440" cy="1143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Multi-tenant orgs,</a:t>
            </a:r>
            <a:br/>
            <a:r>
              <a:t>sub-accounts for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20440" cy="1143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Account-specific with</a:t>
            </a:r>
            <a:br/>
            <a:r>
              <a:t>JSON permissions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3520440" cy="1143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Account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M:N user-account-role</a:t>
            </a:r>
            <a:br/>
            <a:r>
              <a:t>mapping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200400"/>
            <a:ext cx="3520440" cy="1143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Contacts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611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MongoDB, flexible metadata,</a:t>
            </a:r>
            <a:br/>
            <a:r>
              <a:t>custom attributes, tags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200400"/>
            <a:ext cx="3520440" cy="1143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Calibri"/>
              </a:defRPr>
            </a:pPr>
            <a:r>
              <a:t>Persons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611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MongoDB, person records</a:t>
            </a:r>
            <a:br/>
            <a:r>
              <a:t>with attributes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3520440" cy="19202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731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02352"/>
            <a:ext cx="315468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93792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7 Routers, 18 Service Classes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PostgreSQL (relational) + MongoDB (documents)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3 service classes per entity: Creation, Retrieval, Update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/context/basic powers gateway enrichment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663440"/>
            <a:ext cx="3520440" cy="19202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7731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9CF7"/>
                </a:solidFill>
                <a:latin typeface="Calibri"/>
              </a:defRPr>
            </a:pPr>
            <a:r>
              <a:t>Auth Stack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5102352"/>
            <a:ext cx="3154680" cy="1905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5193792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AWS Cognito user pool (JWT RS256)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get_current_user, get_current_user_id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require_role('admin') decorator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Multi-account membership per user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663440"/>
            <a:ext cx="3840480" cy="19202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773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Evolution: Agent Preferences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5102352"/>
            <a:ext cx="347472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5193792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 AgentPreference model for conversation routing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Available channels, topics, working hours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Languages, max concurrent conversations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Online/offline toggle, auto-accept,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turumba_messaging_api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FastAPI / Python 3.12 — The messaging core of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Current: 6 Entities (all CRUD implemented)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1828800" cy="11887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92024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9CF7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9456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6 types, JSONB creds,</a:t>
            </a:r>
            <a:br/>
            <a:r>
              <a:t>write-only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828800"/>
            <a:ext cx="1828800" cy="11887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0008" y="192024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219456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Status lifecycle, direction</a:t>
            </a:r>
            <a:br/>
            <a:r>
              <a:t>tracking, JSONB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1828800" cy="11887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92024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19456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{VAR} placeholders,</a:t>
            </a:r>
            <a:br/>
            <a:r>
              <a:t>6-source resolution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1828800"/>
            <a:ext cx="1828800" cy="11887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7" y="192024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Group 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7" y="219456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Bulk send, progress</a:t>
            </a:r>
            <a:br/>
            <a:r>
              <a:t>tracking, auto-template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1828800" cy="11887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92024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Scheduled Msgs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9456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One-time / recurring,</a:t>
            </a:r>
            <a:br/>
            <a:r>
              <a:t>timezone aware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28800"/>
            <a:ext cx="1828800" cy="11887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13848" y="192024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Outbox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8" y="219456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Transactional outbox,</a:t>
            </a:r>
            <a:br/>
            <a:r>
              <a:t>pg_notify, retry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Evolution: New Models &amp; Infrastructure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566160"/>
            <a:ext cx="182880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65760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Conversations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931920"/>
            <a:ext cx="16093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Omnichannel inbox with status</a:t>
            </a:r>
            <a:br/>
            <a:r>
              <a:t>lifecycle: open &gt; bot &gt; assigned</a:t>
            </a:r>
            <a:br/>
            <a:r>
              <a:t>&gt; pending &gt; resolved &gt; closed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40280" y="3566160"/>
            <a:ext cx="182880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0008" y="365760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Contact Identifiers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0008" y="3931920"/>
            <a:ext cx="16093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Cross-platform contact resolution:</a:t>
            </a:r>
            <a:br/>
            <a:r>
              <a:t>same customer on WhatsApp AND</a:t>
            </a:r>
            <a:br/>
            <a:r>
              <a:t>Telegram maps to one contact_id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3566160"/>
            <a:ext cx="182880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365760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Canned Responses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3931920"/>
            <a:ext cx="16093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Quick replies via /shortcode</a:t>
            </a:r>
            <a:br/>
            <a:r>
              <a:t>trigger: "/greeting", "/refund"</a:t>
            </a:r>
            <a:br/>
            <a:r>
              <a:t>with {{contact_name}} variables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199" y="3566160"/>
            <a:ext cx="182880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7" y="365760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Bot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7" y="3931920"/>
            <a:ext cx="16093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Rule-based routing engine:</a:t>
            </a:r>
            <a:br/>
            <a:r>
              <a:t>keyword, time-based, channel,</a:t>
            </a:r>
            <a:br/>
            <a:r>
              <a:t>fallback — priority-ordered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566160"/>
            <a:ext cx="182880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365760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9CF7"/>
                </a:solidFill>
                <a:latin typeface="Calibri"/>
              </a:defRPr>
            </a:pPr>
            <a:r>
              <a:t>Channel Adapters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3931920"/>
            <a:ext cx="16093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Pluggable per-provider:</a:t>
            </a:r>
            <a:br/>
            <a:r>
              <a:t>Twilio, Telegram Bot API,</a:t>
            </a:r>
            <a:br/>
            <a:r>
              <a:t>WhatsApp Cloud API, SMPP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04120" y="3566160"/>
            <a:ext cx="182880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13848" y="3657600"/>
            <a:ext cx="16093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Dispatch Workers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3848" y="3931920"/>
            <a:ext cx="16093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Per-channel-type consumers:</a:t>
            </a:r>
            <a:br/>
            <a:r>
              <a:t>message.dispatch.sms,</a:t>
            </a:r>
            <a:br/>
            <a:r>
              <a:t>.telegram, .whatsapp, etc.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303520"/>
            <a:ext cx="11612880" cy="457200"/>
          </a:xfrm>
          <a:prstGeom prst="roundRect">
            <a:avLst/>
          </a:prstGeom>
          <a:solidFill>
            <a:srgbClr val="1A2538"/>
          </a:solidFill>
          <a:ln w="1270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5349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5 Routers  |  15+ Service Classes  |  PostgreSQL + RabbitMQ  |  Outbox Worker  |  80% test coverage (CI)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9999"/>
                </a:solidFill>
                <a:latin typeface="Calibri"/>
              </a:defRPr>
            </a:pPr>
            <a:r>
              <a:t>Message Lifecycle: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5943600"/>
            <a:ext cx="1280160" cy="320040"/>
          </a:xfrm>
          <a:prstGeom prst="round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Queued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5897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0" y="5943600"/>
            <a:ext cx="12801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Sending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5897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5943600"/>
            <a:ext cx="1280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897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5943600"/>
            <a:ext cx="1280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5943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or  Failed ▶ Retry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turumba_web_core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Turborepo monorepo — Next.js 16, TypeScript, Tailwind v4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23774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Turumba App  (Port 3600)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93392"/>
            <a:ext cx="3291840" cy="1905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84832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Full-featured message automation dashboard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Account, team, and contact management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Send, schedule, and group messages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Template and channel management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Monitor delivery status and 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657600" cy="23774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64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Negarit App  (Port 3500)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993392"/>
            <a:ext cx="329184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84832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Streamlined messaging-focused app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Send and receive messages only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Schedule messages for future delivery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Message history and delivery status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Lightweight alternative to full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566160" cy="23774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Shared Packages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993392"/>
            <a:ext cx="3200400" cy="190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084832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@repo/ui — 24 Radix-based components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@repo/eslint-config — shared lint rules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@repo/typescript-config — shared tsconfig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Field composition system for forms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Tailwind v4 with oklch color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06240"/>
            <a:ext cx="5577840" cy="23774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159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What's 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45152"/>
            <a:ext cx="521208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36592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•  Auth: Sign in, Sign up, Email verification, TOTP 2FA</a:t>
            </a:r>
          </a:p>
          <a:p>
            <a:pPr>
              <a:spcAft>
                <a:spcPts val="385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•  Server-side auth guard (middleware)</a:t>
            </a:r>
          </a:p>
          <a:p>
            <a:pPr>
              <a:spcAft>
                <a:spcPts val="385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•  Organization management (create, switch, settings)</a:t>
            </a:r>
          </a:p>
          <a:p>
            <a:pPr>
              <a:spcAft>
                <a:spcPts val="385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•  User management within organizations</a:t>
            </a:r>
          </a:p>
          <a:p>
            <a:pPr>
              <a:spcAft>
                <a:spcPts val="385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•  Generic Table Builder with pagination</a:t>
            </a:r>
          </a:p>
          <a:p>
            <a:pPr>
              <a:spcAft>
                <a:spcPts val="385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•  AWS Amplify 6.16 + Cognito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206240"/>
            <a:ext cx="5577840" cy="237744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3159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Planned: 10 Messaging Pages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645152"/>
            <a:ext cx="521208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736592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FE-002/03 — Delivery Channels table + create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FE-005/06 — Templates table + create/edit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FE-004/01 — Messages table + new message compose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FE-007/08 — Group messages table + create</a:t>
            </a:r>
          </a:p>
          <a:p>
            <a:pPr>
              <a:spcAft>
                <a:spcPts val="385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FE-009/10 — Scheduled messages table + create/edit</a:t>
            </a:r>
          </a:p>
          <a:p>
            <a:pPr>
              <a:spcAft>
                <a:spcPts val="385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•  + Conversation inbox UI (future)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1005840"/>
          </a:xfrm>
          <a:prstGeom prst="rect">
            <a:avLst/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89CF7"/>
                </a:solidFill>
                <a:latin typeface="Calibri Light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Multi-tenancy and event-driven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Multi-Tenancy &amp; Event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CF7"/>
                </a:solidFill>
                <a:latin typeface="Calibri"/>
              </a:defRPr>
            </a:pPr>
            <a:r>
              <a:t>3-Layer Tenant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5577840" cy="13716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9CF7"/>
                </a:solidFill>
                <a:latin typeface="Calibri"/>
              </a:defRPr>
            </a:pPr>
            <a:r>
              <a:t>Layer 1: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599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Context-enricher Go plugin resolves user → account.</a:t>
            </a:r>
            <a:br/>
            <a:r>
              <a:t>Injects x-account-ids, x-role-ids headers.</a:t>
            </a:r>
            <a:br/>
            <a:r>
              <a:t>STRIPS any user-provided values (anti-spoofing).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28999"/>
            <a:ext cx="5577840" cy="13716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204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Layer 2: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7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Default filter: account_id:eq:{header_value}.</a:t>
            </a:r>
            <a:br/>
            <a:r>
              <a:t>"Trusted system filter" — bypasses user validation.</a:t>
            </a:r>
            <a:br/>
            <a:r>
              <a:t>Cannot be overridden by query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83479"/>
            <a:ext cx="5577840" cy="13716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Layer 3: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5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set_header_context(headers) extracts IDs.</a:t>
            </a:r>
            <a:br/>
            <a:r>
              <a:t>All DB queries scoped to injected account.</a:t>
            </a:r>
            <a:br/>
            <a:r>
              <a:t>Role-based access control per operation.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Transactional Outbox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74519"/>
            <a:ext cx="5577840" cy="804672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3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9CF7"/>
                </a:solidFill>
                <a:latin typeface="Calibri"/>
              </a:defRPr>
            </a:pPr>
            <a:r>
              <a:t>1. EventBus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92023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Controller emits domain events.</a:t>
            </a:r>
            <a:br/>
            <a:r>
              <a:t>In-memory, request-scoped.</a:t>
            </a:r>
            <a:br/>
            <a:r>
              <a:t>No persistence yet.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807207"/>
            <a:ext cx="5577840" cy="804672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852927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2. Outbox 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52927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Flushes events to outbox_events</a:t>
            </a:r>
            <a:br/>
            <a:r>
              <a:t>table in SAME DB transaction.</a:t>
            </a:r>
            <a:br/>
            <a:r>
              <a:t>Atomic: entity + events.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39895"/>
            <a:ext cx="5577840" cy="804672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85615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3. db.commit()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785615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Single commit persists both</a:t>
            </a:r>
            <a:br/>
            <a:r>
              <a:t>entity changes AND outbox events.</a:t>
            </a:r>
            <a:br/>
            <a:r>
              <a:t>Fail = both rolled 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672583"/>
            <a:ext cx="5577840" cy="804672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718303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4. Outbox Worker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718303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pg_notify wakes worker instantly.</a:t>
            </a:r>
            <a:br/>
            <a:r>
              <a:t>Publishes to RabbitMQ exchange.</a:t>
            </a:r>
            <a:br/>
            <a:r>
              <a:t>routing_key = event_type.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605271"/>
            <a:ext cx="5577840" cy="804672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65099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5. Consumers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650991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Process events: group message</a:t>
            </a:r>
            <a:br/>
            <a:r>
              <a:t>expansion, schedule triggers,</a:t>
            </a:r>
            <a:br/>
            <a:r>
              <a:t>dispatch to channels.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1005840"/>
          </a:xfrm>
          <a:prstGeom prst="rect">
            <a:avLst/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89CF7"/>
                </a:solidFill>
                <a:latin typeface="Calibri Light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Platform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High-scale dispatch and customer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High-Scale Messaging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Designed for 1M+ messages/day with per-channel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749039" cy="25603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Channel Adapter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3383279" cy="1905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3832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Pluggable adapter per channel type + provider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Common interface: send(), verify_credentials(),</a:t>
            </a:r>
            <a:br/>
            <a:r>
              <a:t>  check_health(), parse_webhook()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SMS: Twilio, Africa's Talking, Vonage adapters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Telegram Bot API, WhatsApp Cloud API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SMPP: persistent TCP to SMSCs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Messenger (Graph API), Email (SMTP)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Adapter registry: channel_type + provider →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840480" cy="25603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72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Two-Stage Dispatch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901952"/>
            <a:ext cx="347472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93392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 Stage 1: Fan-Out (Group Messages)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Fetches contacts in batches of 1,000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Renders template per contact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Batch-inserts Message records (queued)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Publishes N dispatch events to channel queues</a:t>
            </a:r>
          </a:p>
          <a:p>
            <a:pPr>
              <a:spcAft>
                <a:spcPts val="35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•  Stage 2: Per-Channel Dispatch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Each channel type has dedicated RabbitMQ queue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Workers load creds from Redis cache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Call adapter.send(), update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63040"/>
            <a:ext cx="3566160" cy="256032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72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Per-Channel Queues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901952"/>
            <a:ext cx="32004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93392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message.dispatch.sms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message.dispatch.telegram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message.dispatch.whatsapp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message.dispatch.messenger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message.dispatch.email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message.dispatch.smpp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message.status.update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webhook.inbound</a:t>
            </a:r>
          </a:p>
          <a:p>
            <a:pPr>
              <a:spcAft>
                <a:spcPts val="35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•  Independent scaling per channel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297680"/>
            <a:ext cx="3749039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0740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Webhook Receivers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3383279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383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Inbound messages + delivery status from providers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Verify HMAC signature per provider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Return 200 immediately (&lt; 1 second)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Enqueue to RabbitMQ for async processing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Idempotent: deduplicate by provider message ID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Each provider has different HMAC scheme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297680"/>
            <a:ext cx="384048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407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Rate Limiting (3 Levels)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736592"/>
            <a:ext cx="3474720" cy="190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828032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1">
                <a:solidFill>
                  <a:srgbClr val="389CF7"/>
                </a:solidFill>
                <a:latin typeface="Calibri"/>
              </a:defRPr>
            </a:pPr>
            <a:r>
              <a:t>•  Per-channel instance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Redis token bucket (channel.rate_limit)</a:t>
            </a:r>
          </a:p>
          <a:p>
            <a:pPr>
              <a:spcAft>
                <a:spcPts val="35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 Per-provider global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Account-level limits (e.g., Twilio 100 msg/sec)</a:t>
            </a:r>
          </a:p>
          <a:p>
            <a:pPr>
              <a:spcAft>
                <a:spcPts val="350"/>
              </a:spcAft>
              <a:defRPr sz="1000" b="1">
                <a:solidFill>
                  <a:srgbClr val="A78BFA"/>
                </a:solidFill>
                <a:latin typeface="Calibri"/>
              </a:defRPr>
            </a:pPr>
            <a:r>
              <a:t>•  Per-tenant quota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Daily/monthly caps (free vs. pro tier)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297680"/>
            <a:ext cx="356616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4074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New Infrastructure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736592"/>
            <a:ext cx="320040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828032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1">
                <a:solidFill>
                  <a:srgbClr val="EF4444"/>
                </a:solidFill>
                <a:latin typeface="Calibri"/>
              </a:defRPr>
            </a:pPr>
            <a:r>
              <a:t>•  Redis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Rate limiting, credential cache, progress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counters, dedup locks, channel health</a:t>
            </a:r>
          </a:p>
          <a:p>
            <a:pPr>
              <a:spcAft>
                <a:spcPts val="35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 SMPP Gateway (Jasmin)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Persistent TCP to SMSCs</a:t>
            </a:r>
          </a:p>
          <a:p>
            <a:pPr>
              <a:spcAft>
                <a:spcPts val="35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•  PostgreSQL Read Replica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Separate read/write paths at scale</a:t>
            </a:r>
          </a:p>
          <a:p>
            <a:pPr>
              <a:spcAft>
                <a:spcPts val="350"/>
              </a:spcAft>
              <a:defRPr sz="1000" b="1">
                <a:solidFill>
                  <a:srgbClr val="389CF7"/>
                </a:solidFill>
                <a:latin typeface="Calibri"/>
              </a:defRPr>
            </a:pPr>
            <a:r>
              <a:t>•  Table Partitioning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Messages partitioned by month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Conversations &amp; Customer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Omnichannel inbox with bot-first routing and real-time push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749039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NEW: turumba_realtime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3383279" cy="1905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383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1">
                <a:solidFill>
                  <a:srgbClr val="EC4899"/>
                </a:solidFill>
                <a:latin typeface="Calibri"/>
              </a:defRPr>
            </a:pPr>
            <a:r>
              <a:t>•  5th microservice — Node.js + Socket.IO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Subscribes to RabbitMQ conversation events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Pushes to connected browsers via WebSocket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Redis adapter for horizontal scaling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Presence tracking + typing indicators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Two namespaces: /agents, /customers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JWT auth on WebSocket handshake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84048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72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Conversation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901952"/>
            <a:ext cx="347472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93392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•  Status lifecycle: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open → bot → assigned → pending → resolved → closed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ContactIdentifier: cross-platform resolution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Same customer on WhatsApp AND Telegram → one contact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CannedResponses: /greeting, /refund shortcuts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Internal notes (is_private: true) for agents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SLA tracking: first_reply_at, resolved_at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63040"/>
            <a:ext cx="356616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72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Bot-First Routing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901952"/>
            <a:ext cx="320040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93392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•  Phase 1: Rule-Based (MVP)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Keyword matching, time-based,</a:t>
            </a:r>
            <a:br/>
            <a:r>
              <a:t>  channel routing, fallback</a:t>
            </a:r>
          </a:p>
          <a:p>
            <a:pPr>
              <a:spcAft>
                <a:spcPts val="35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 Phase 2: AI Intent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LLM classifies intent +</a:t>
            </a:r>
            <a:br/>
            <a:r>
              <a:t>  confidence threshold</a:t>
            </a:r>
          </a:p>
          <a:p>
            <a:pPr>
              <a:spcAft>
                <a:spcPts val="350"/>
              </a:spcAft>
              <a:defRPr sz="1000" b="1">
                <a:solidFill>
                  <a:srgbClr val="A78BFA"/>
                </a:solidFill>
                <a:latin typeface="Calibri"/>
              </a:defRPr>
            </a:pPr>
            <a:r>
              <a:t>•  Phase 3: Conversational Bot</a:t>
            </a:r>
          </a:p>
          <a:p>
            <a:pPr>
              <a:spcAft>
                <a:spcPts val="35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  Multi-turn, knowledge base,</a:t>
            </a:r>
            <a:br/>
            <a:r>
              <a:t>  handoff to 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Inbound Conversation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343400"/>
            <a:ext cx="178308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4348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9CF7"/>
                </a:solidFill>
                <a:latin typeface="Calibri"/>
              </a:defRPr>
            </a:pPr>
            <a:r>
              <a:t>Customer</a:t>
            </a:r>
            <a:br/>
            <a:r>
              <a:t>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937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WhatsApp, Telegram,</a:t>
            </a:r>
            <a:br/>
            <a:r>
              <a:t>SMS, Messenger...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8463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4343400"/>
            <a:ext cx="178308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44348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Webhook</a:t>
            </a:r>
            <a:br/>
            <a:r>
              <a:t>Receiver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937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Verify HMAC, return</a:t>
            </a:r>
            <a:br/>
            <a:r>
              <a:t>200, enqueue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8463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4343400"/>
            <a:ext cx="178308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4348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Inbound</a:t>
            </a:r>
            <a:br/>
            <a:r>
              <a:t>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937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Resolve contact,</a:t>
            </a:r>
            <a:br/>
            <a:r>
              <a:t>find/create convo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8463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199" y="4343400"/>
            <a:ext cx="178308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9" y="44348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Bot</a:t>
            </a:r>
            <a:br/>
            <a:r>
              <a:t>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9" y="4937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Evaluate rules,</a:t>
            </a:r>
            <a:br/>
            <a:r>
              <a:t>auto-reply, label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463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343400"/>
            <a:ext cx="178308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44348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Agent</a:t>
            </a:r>
            <a:br/>
            <a:r>
              <a:t>Routing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937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Filter by availability,</a:t>
            </a:r>
            <a:br/>
            <a:r>
              <a:t>assign round-robin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48463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4343400"/>
            <a:ext cx="1783080" cy="150876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44348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Calibri"/>
              </a:defRPr>
            </a:pPr>
            <a:r>
              <a:t>Real-Time</a:t>
            </a:r>
            <a:br/>
            <a:r>
              <a:t>Push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9377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Socket.IO pushes</a:t>
            </a:r>
            <a:br/>
            <a:r>
              <a:t>to agent inbox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6035040"/>
            <a:ext cx="11612880" cy="594360"/>
          </a:xfrm>
          <a:prstGeom prst="roundRect">
            <a:avLst/>
          </a:prstGeom>
          <a:solidFill>
            <a:srgbClr val="1A25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0807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Agent Routing:  Filter by is_available + working hours + available_channels + topics + capacity  ▶  Sort by least active + longest idle  ▶  Assign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 Light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Current technologies + planned additions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69748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2331720" cy="127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KrakenD 2.12.1  —  Go plugins, Lua 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54480"/>
            <a:ext cx="269748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6642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65960"/>
            <a:ext cx="2331720" cy="12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574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FastAPI  —  Python 3.11 / 3.12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SQLAlchemy  —  Async ORM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Motor  —  MongoDB async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69748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65960"/>
            <a:ext cx="2331720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AWS Cognito  —  JWT RS256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Amplify 6.16  —  Frontend SDK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54480"/>
            <a:ext cx="269748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642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Databases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965960"/>
            <a:ext cx="233172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0574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PostgreSQL  —  Relational data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MongoDB  —  Document data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RabbitMQ  —  Message broker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14800"/>
            <a:ext cx="269748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26280"/>
            <a:ext cx="2331720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177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Next.js 16  —  App Router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TypeScript  —  Strict mode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Tailwind v4  —  oklch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4114800"/>
            <a:ext cx="269748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2245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UI / Forms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526280"/>
            <a:ext cx="2331720" cy="12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6177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Radix UI  —  Accessible primitives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React Hook Form  —  + Zod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269748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389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2245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7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526280"/>
            <a:ext cx="2331720" cy="127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6177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Docker  —  Compose orchestration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GitHub Actions  —  CI/CD pipelines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Turborepo  —  Monorepo builds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4114800"/>
            <a:ext cx="2697480" cy="2286000"/>
          </a:xfrm>
          <a:prstGeom prst="roundRect">
            <a:avLst/>
          </a:prstGeom>
          <a:solidFill>
            <a:srgbClr val="141F38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42245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4526280"/>
            <a:ext cx="2331720" cy="127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6177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Redis  —  Rate limiting, cache, presence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Socket.IO  —  Real-time WebSocket</a:t>
            </a:r>
          </a:p>
          <a:p>
            <a:pPr>
              <a:spcAft>
                <a:spcPts val="66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Jasmin  —  SMPP gateway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8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 Light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3657600" cy="2540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4 microservices today, evolving to 5 (turumba_realtime)</a:t>
            </a:r>
          </a:p>
          <a:p>
            <a:pPr>
              <a:spcAft>
                <a:spcPts val="10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51 API endpoints  |  12 data entities  |  6 messaging channels</a:t>
            </a:r>
          </a:p>
          <a:p>
            <a:pPr>
              <a:spcAft>
                <a:spcPts val="10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Multi-tenant SaaS with 3-layer security</a:t>
            </a:r>
          </a:p>
          <a:p>
            <a:pPr>
              <a:spcAft>
                <a:spcPts val="10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Event-driven architecture (transactional outbox + RabbitMQ)</a:t>
            </a:r>
          </a:p>
          <a:p>
            <a:pPr>
              <a:spcAft>
                <a:spcPts val="10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Designed to scale to 1M+ messages/day</a:t>
            </a:r>
          </a:p>
          <a:p>
            <a:pPr>
              <a:spcAft>
                <a:spcPts val="105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•  Conversation inbox with bot-first routing on the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